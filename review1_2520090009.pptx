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embeddedFontLst>
    <p:embeddedFont>
      <p:font typeface="Felix Titling" panose="04060505060202020A04" pitchFamily="82" charset="0"/>
      <p:regular r:id="rId10"/>
    </p:embeddedFont>
    <p:embeddedFont>
      <p:font typeface="Goudy Old Style" panose="02020502050305020303" pitchFamily="18" charset="0"/>
      <p:regular r:id="rId11"/>
      <p:bold r:id="rId12"/>
      <p:italic r:id="rId13"/>
    </p:embeddedFont>
    <p:embeddedFont>
      <p:font typeface="Lora" pitchFamily="2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76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049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138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55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265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5536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047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4427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2438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558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0082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59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333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384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293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422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1680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98947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723516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8994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0897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222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0422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7122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798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2069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9386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302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72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30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56272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SignBridge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344854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Two-Way Sign Language Translation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752277"/>
            <a:ext cx="3481896" cy="34819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2528" y="1408410"/>
            <a:ext cx="2013297" cy="284162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4" name="Text 1"/>
          <p:cNvSpPr/>
          <p:nvPr/>
        </p:nvSpPr>
        <p:spPr>
          <a:xfrm>
            <a:off x="4754642" y="1464469"/>
            <a:ext cx="239865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ABSTRACT &amp; INTRODUCTION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42528" y="1762621"/>
            <a:ext cx="6857332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Bridging the Communication Gap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4642528" y="3037880"/>
            <a:ext cx="6857332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 barriers between sign language users and the wider community remain a significant accessibility challenge, particularly when interpreters are unavailable.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628555"/>
            <a:ext cx="5310055" cy="16743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2006" y="4840883"/>
            <a:ext cx="478381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Two-Way Translation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12006" y="5221089"/>
            <a:ext cx="4783812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Converts hand gestures into text and speech, and translates text or voice into visual sign representations in real time.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3455" y="4628555"/>
            <a:ext cx="5310154" cy="16743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7376" y="4840883"/>
            <a:ext cx="478391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Platform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497376" y="5221089"/>
            <a:ext cx="4783911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Combines AI-based recognition, confidence-aware translation, personalized learning, and modern backend engineering.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4236"/>
            <a:ext cx="10795524" cy="5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 and Objectives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70196" y="1314053"/>
            <a:ext cx="5436853" cy="4989711"/>
          </a:xfrm>
          <a:prstGeom prst="roundRect">
            <a:avLst>
              <a:gd name="adj" fmla="val 534"/>
            </a:avLst>
          </a:prstGeom>
          <a:solidFill>
            <a:srgbClr val="38512F"/>
          </a:solidFill>
          <a:ln/>
        </p:spPr>
      </p:sp>
      <p:sp>
        <p:nvSpPr>
          <p:cNvPr id="4" name="Text 2"/>
          <p:cNvSpPr/>
          <p:nvPr/>
        </p:nvSpPr>
        <p:spPr>
          <a:xfrm>
            <a:off x="747793" y="1472208"/>
            <a:ext cx="508165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7793" y="1891605"/>
            <a:ext cx="5081659" cy="107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 language users may face delays or exclusion when interpreters are unavailable and communication partners cannot understand signs. This creates real-time accessibility barriers across healthcare, education, and everyday interactions.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18886" y="1472208"/>
            <a:ext cx="518107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18886" y="1911449"/>
            <a:ext cx="399643" cy="39965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6393347" y="1954560"/>
            <a:ext cx="25072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76680" y="1972469"/>
            <a:ext cx="46232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Recognize hand gestures in real 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76680" y="2391866"/>
            <a:ext cx="4623280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Translate them immediately into text and speech output.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18886" y="2976959"/>
            <a:ext cx="399643" cy="39965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6393347" y="3020070"/>
            <a:ext cx="25072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76680" y="3037979"/>
            <a:ext cx="46232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Reverse translation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76680" y="3457377"/>
            <a:ext cx="4623280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 text or voice input into visual sign representations.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18886" y="4042470"/>
            <a:ext cx="399643" cy="39965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6393347" y="4085580"/>
            <a:ext cx="25072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876680" y="4103489"/>
            <a:ext cx="46232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reliability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76680" y="4522887"/>
            <a:ext cx="4623280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confidence scoring and repeat prompts for uncertain predictions.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18886" y="5376664"/>
            <a:ext cx="399643" cy="39965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347" y="5419775"/>
            <a:ext cx="250720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876680" y="5437684"/>
            <a:ext cx="462328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6680" y="5857081"/>
            <a:ext cx="4623280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user-defined gestures and critical emergency phrases.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865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Hardware and Software Requirements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072184"/>
            <a:ext cx="1105170" cy="683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00454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Capture Hardware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417491"/>
            <a:ext cx="251185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Camera-enabled device for real-time hand gesture capture, with sufficient processor and memory for computer vision inference.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8086" y="5133082"/>
            <a:ext cx="2511858" cy="638373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 fontScale="92500"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Audio output for spoken translations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2072184"/>
            <a:ext cx="1105170" cy="6830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9274" y="300454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 and API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59274" y="3417491"/>
            <a:ext cx="251185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 frontend paired with a FastAPI backend for a responsive, high-performance user interface and REST API layer.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63" y="2072184"/>
            <a:ext cx="1105170" cy="6830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20463" y="3004542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and Vision Stack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220463" y="3417491"/>
            <a:ext cx="251185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OpenCV and MediaPipe for hand landmark detection; TensorFlow/Keras or TensorFlow Lite for gesture classification.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652" y="2072184"/>
            <a:ext cx="1105170" cy="6830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81652" y="3004542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and DevOps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981652" y="3417491"/>
            <a:ext cx="2511957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with SQLAlchemy ORM, JWT authentication, RBAC, Docker-based deployment, API documentation, testing, and monitoring.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9621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986161"/>
            <a:ext cx="6899995" cy="2975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424" y="4403133"/>
            <a:ext cx="1473173" cy="18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Phrase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62424" y="3714359"/>
            <a:ext cx="1473173" cy="18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Score Confidence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62424" y="3032543"/>
            <a:ext cx="1473173" cy="18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Classify Gesture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62424" y="2343770"/>
            <a:ext cx="1473173" cy="184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Capture Landmarks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8086" y="5067697"/>
            <a:ext cx="6899995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end-to-end pipeline from gesture capture to meaningful sentence output, with confidence-aware error handling at every stage.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38988" y="1258590"/>
            <a:ext cx="3560971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System Capabilities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38988" y="1566267"/>
            <a:ext cx="3560971" cy="1163340"/>
          </a:xfrm>
          <a:prstGeom prst="roundRect">
            <a:avLst>
              <a:gd name="adj" fmla="val 1768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5155" y="1722437"/>
            <a:ext cx="3248638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Landmark Recognition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95155" y="2018308"/>
            <a:ext cx="3248638" cy="555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OpenCV and MediaPipe capture precise hand landmarks fed into the TensorFlow/Keras or TensorFlow Lite classifier.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38988" y="2823865"/>
            <a:ext cx="3560971" cy="1163340"/>
          </a:xfrm>
          <a:prstGeom prst="roundRect">
            <a:avLst>
              <a:gd name="adj" fmla="val 1768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5155" y="2980035"/>
            <a:ext cx="3248638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 Phrase Builder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95155" y="3275905"/>
            <a:ext cx="3248638" cy="555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Combines individually recognized signs into grammatically coherent, meaningful sentences for the recipient.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38988" y="4081463"/>
            <a:ext cx="3560971" cy="978297"/>
          </a:xfrm>
          <a:prstGeom prst="roundRect">
            <a:avLst>
              <a:gd name="adj" fmla="val 210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5155" y="4237633"/>
            <a:ext cx="3248638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Emergency Mode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95155" y="4533503"/>
            <a:ext cx="3248638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one-tap access to critical pre-set phrases for high-stakes or time-sensitive communication scenarios.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38988" y="5154017"/>
            <a:ext cx="3560971" cy="978297"/>
          </a:xfrm>
          <a:prstGeom prst="roundRect">
            <a:avLst>
              <a:gd name="adj" fmla="val 210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95155" y="5310188"/>
            <a:ext cx="3248638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Teach the AI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95155" y="5606058"/>
            <a:ext cx="3248638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contribute personalized gestures that expand the model's vocabulary beyond the default sign set.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814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1396802"/>
            <a:ext cx="1349440" cy="959048"/>
          </a:xfrm>
          <a:prstGeom prst="roundRect">
            <a:avLst>
              <a:gd name="adj" fmla="val 2730"/>
            </a:avLst>
          </a:prstGeom>
          <a:solidFill>
            <a:srgbClr val="F3E7D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125" y="1753592"/>
            <a:ext cx="245362" cy="245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22048" y="1571327"/>
            <a:ext cx="90970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Expanded Vocabulary and Sign Languages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22048" y="1919585"/>
            <a:ext cx="9097040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Grow the gesture library and add support for multiple sign languages and regional variations worldwide.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134737" y="2347913"/>
            <a:ext cx="9271661" cy="9525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8" name="Shape 5"/>
          <p:cNvSpPr/>
          <p:nvPr/>
        </p:nvSpPr>
        <p:spPr>
          <a:xfrm>
            <a:off x="698086" y="2443063"/>
            <a:ext cx="2698881" cy="1220788"/>
          </a:xfrm>
          <a:prstGeom prst="roundRect">
            <a:avLst>
              <a:gd name="adj" fmla="val 2145"/>
            </a:avLst>
          </a:prstGeom>
          <a:solidFill>
            <a:srgbClr val="F3E7D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4796" y="2930723"/>
            <a:ext cx="245362" cy="245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71488" y="2617589"/>
            <a:ext cx="774760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and Sentence-Level Recognition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71488" y="2965847"/>
            <a:ext cx="774760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 from isolated sign classification to fluent, continuous-sign sentence understanding for more natural conversations.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484178" y="3655913"/>
            <a:ext cx="7922221" cy="9525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3" name="Shape 9"/>
          <p:cNvSpPr/>
          <p:nvPr/>
        </p:nvSpPr>
        <p:spPr>
          <a:xfrm>
            <a:off x="698086" y="3751064"/>
            <a:ext cx="4048321" cy="1220788"/>
          </a:xfrm>
          <a:prstGeom prst="roundRect">
            <a:avLst>
              <a:gd name="adj" fmla="val 2145"/>
            </a:avLst>
          </a:prstGeom>
          <a:solidFill>
            <a:srgbClr val="F3E7D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9565" y="4238724"/>
            <a:ext cx="245362" cy="2453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20928" y="3925590"/>
            <a:ext cx="639815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Enhanced Personalized Learning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20928" y="4273848"/>
            <a:ext cx="6398159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Incorporate richer user feedback loops and adaptive model fine-tuning to tailor the system to individual signing styles.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833618" y="4963914"/>
            <a:ext cx="6572780" cy="9525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8" name="Shape 13"/>
          <p:cNvSpPr/>
          <p:nvPr/>
        </p:nvSpPr>
        <p:spPr>
          <a:xfrm>
            <a:off x="698086" y="5059065"/>
            <a:ext cx="5397762" cy="1220788"/>
          </a:xfrm>
          <a:prstGeom prst="roundRect">
            <a:avLst>
              <a:gd name="adj" fmla="val 2145"/>
            </a:avLst>
          </a:prstGeom>
          <a:solidFill>
            <a:srgbClr val="F3E7D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4236" y="5546725"/>
            <a:ext cx="245362" cy="2453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70369" y="5233591"/>
            <a:ext cx="504871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Cross-Platform and Edge Deployment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270369" y="5581848"/>
            <a:ext cx="5048719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 availability across mobile, web, and edge devices with strengthened monitoring pipelines and accessibility compliance.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65117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1536998"/>
            <a:ext cx="3012107" cy="2701032"/>
          </a:xfrm>
          <a:prstGeom prst="roundRect">
            <a:avLst>
              <a:gd name="adj" fmla="val 1108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897510" y="1736427"/>
            <a:ext cx="261325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Beyond Conventional Detection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7510" y="2442666"/>
            <a:ext cx="2613257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SignBridge moves past isolated gesture recognition toward a reliable, adaptive, and fully accessible two-way communication platform.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909617" y="1536998"/>
            <a:ext cx="3012107" cy="2701032"/>
          </a:xfrm>
          <a:prstGeom prst="roundRect">
            <a:avLst>
              <a:gd name="adj" fmla="val 1108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4109042" y="1736427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Inclusive by Design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09042" y="2149376"/>
            <a:ext cx="2613257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Two-way translation serves both sign language users and hearing individuals unfamiliar with sign language, reducing barriers in both directions.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98086" y="4437459"/>
            <a:ext cx="6223638" cy="1769368"/>
          </a:xfrm>
          <a:prstGeom prst="roundRect">
            <a:avLst>
              <a:gd name="adj" fmla="val 1691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897510" y="4636889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to Scale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97510" y="5049837"/>
            <a:ext cx="582478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modular, service-oriented architecture with JWT security, RBAC, and Docker-based deployment supports long-term maintainability and growth.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19</TotalTime>
  <Words>532</Words>
  <Application>Microsoft Office PowerPoint</Application>
  <PresentationFormat>Widescreen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Source Sans 3</vt:lpstr>
      <vt:lpstr>Arial</vt:lpstr>
      <vt:lpstr>Felix Titling</vt:lpstr>
      <vt:lpstr>Lora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Expert</dc:creator>
  <cp:lastModifiedBy>Expert</cp:lastModifiedBy>
  <cp:revision>4</cp:revision>
  <dcterms:created xsi:type="dcterms:W3CDTF">2026-08-19T09:05:30Z</dcterms:created>
  <dcterms:modified xsi:type="dcterms:W3CDTF">2026-08-20T06:32:06Z</dcterms:modified>
</cp:coreProperties>
</file>